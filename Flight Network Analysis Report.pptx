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03008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03301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532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55463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8458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000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6946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7985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6446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8828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2057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22616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756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68526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6663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96897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574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5BCAD085-E8A6-8845-BD4E-CB4CCA059FC4}" type="datetimeFigureOut">
              <a:rPr lang="en-US" smtClean="0"/>
              <a:t>5/8/2025</a:t>
            </a:fld>
            <a:endParaRPr lang="en-US"/>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27066271"/>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5200"/>
            </a:pPr>
            <a:r>
              <a:rPr dirty="0"/>
              <a:t>Flight Network Analysis </a:t>
            </a:r>
          </a:p>
        </p:txBody>
      </p:sp>
      <p:sp>
        <p:nvSpPr>
          <p:cNvPr id="3" name="Subtitle 2"/>
          <p:cNvSpPr>
            <a:spLocks noGrp="1"/>
          </p:cNvSpPr>
          <p:nvPr>
            <p:ph type="subTitle" idx="1"/>
          </p:nvPr>
        </p:nvSpPr>
        <p:spPr/>
        <p:txBody>
          <a:bodyPr/>
          <a:lstStyle/>
          <a:p>
            <a:r>
              <a:rPr lang="en-US" dirty="0"/>
              <a:t>By Rajeev</a:t>
            </a:r>
            <a:br>
              <a:rPr lang="en-US" dirty="0"/>
            </a:br>
            <a:r>
              <a:rPr lang="en-US" dirty="0"/>
              <a:t>cs 789</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Flight Network Analysis Report</a:t>
            </a:r>
          </a:p>
        </p:txBody>
      </p:sp>
      <p:sp>
        <p:nvSpPr>
          <p:cNvPr id="3" name="Content Placeholder 2"/>
          <p:cNvSpPr>
            <a:spLocks noGrp="1"/>
          </p:cNvSpPr>
          <p:nvPr>
            <p:ph idx="1"/>
          </p:nvPr>
        </p:nvSpPr>
        <p:spPr>
          <a:xfrm>
            <a:off x="656402" y="1316665"/>
            <a:ext cx="6709906" cy="3146611"/>
          </a:xfrm>
        </p:spPr>
        <p:txBody>
          <a:bodyPr/>
          <a:lstStyle/>
          <a:p>
            <a:r>
              <a:rPr sz="1400" dirty="0"/>
              <a:t>Title Slide</a:t>
            </a:r>
          </a:p>
          <a:p>
            <a:r>
              <a:rPr sz="1400" dirty="0"/>
              <a:t>Problem Statement</a:t>
            </a:r>
          </a:p>
          <a:p>
            <a:r>
              <a:rPr sz="1400" dirty="0"/>
              <a:t>State of the Art &amp; Motivation</a:t>
            </a:r>
          </a:p>
          <a:p>
            <a:r>
              <a:rPr sz="1400" dirty="0"/>
              <a:t>Technical Challenges</a:t>
            </a:r>
          </a:p>
          <a:p>
            <a:r>
              <a:rPr sz="1400" dirty="0"/>
              <a:t>Methodology: Our Approach</a:t>
            </a:r>
          </a:p>
          <a:p>
            <a:r>
              <a:rPr sz="1400" dirty="0"/>
              <a:t>Results: Hub Analysis</a:t>
            </a:r>
          </a:p>
          <a:p>
            <a:r>
              <a:rPr sz="1400" dirty="0"/>
              <a:t>Results: Community Detection</a:t>
            </a:r>
          </a:p>
          <a:p>
            <a:r>
              <a:rPr sz="1400" dirty="0"/>
              <a:t>Results: Network Resilience</a:t>
            </a:r>
          </a:p>
          <a:p>
            <a:r>
              <a:rPr sz="1400" dirty="0"/>
              <a:t>Results: Seasonal Patterns</a:t>
            </a:r>
          </a:p>
          <a:p>
            <a:r>
              <a:rPr sz="1400" dirty="0"/>
              <a:t>Discussion &amp;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Problem Statement</a:t>
            </a:r>
          </a:p>
        </p:txBody>
      </p:sp>
      <p:sp>
        <p:nvSpPr>
          <p:cNvPr id="3" name="Content Placeholder 2"/>
          <p:cNvSpPr>
            <a:spLocks noGrp="1"/>
          </p:cNvSpPr>
          <p:nvPr>
            <p:ph idx="1"/>
          </p:nvPr>
        </p:nvSpPr>
        <p:spPr/>
        <p:txBody>
          <a:bodyPr/>
          <a:lstStyle/>
          <a:p>
            <a:r>
              <a:rPr sz="1400" b="1" dirty="0"/>
              <a:t>Global Flight Network Structure: </a:t>
            </a:r>
            <a:r>
              <a:rPr sz="1400" dirty="0"/>
              <a:t>Investigate topology, node connectivity, and hierarchical organization governing global airport interactions.</a:t>
            </a:r>
          </a:p>
          <a:p>
            <a:r>
              <a:rPr sz="1400" b="1" dirty="0"/>
              <a:t>Network Vulnerabilities and Features: </a:t>
            </a:r>
            <a:r>
              <a:rPr sz="1400" dirty="0"/>
              <a:t>Identify critical hubs, fragility points, and community clusters impacting route stability and disruption resilience.</a:t>
            </a:r>
          </a:p>
          <a:p>
            <a:r>
              <a:rPr sz="1400" b="1" dirty="0"/>
              <a:t>Importance to Stakeholders: </a:t>
            </a:r>
            <a:r>
              <a:rPr sz="1400" dirty="0"/>
              <a:t>Inform airlines, planners, governments on strategic routing, infrastructure investment, and risk mitigation policies.</a:t>
            </a:r>
            <a:endParaRPr lang="en-US" sz="1400" dirty="0"/>
          </a:p>
          <a:p>
            <a:r>
              <a:rPr lang="en-US" sz="1400" dirty="0"/>
              <a:t>The dataset used in this project is from Openflights.org. it contains 6,072 airports connected by 67,633 </a:t>
            </a:r>
            <a:r>
              <a:rPr lang="en-US" sz="1400"/>
              <a:t>flight routes.</a:t>
            </a: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State of the Art &amp; Motivation</a:t>
            </a:r>
          </a:p>
        </p:txBody>
      </p:sp>
      <p:sp>
        <p:nvSpPr>
          <p:cNvPr id="3" name="Content Placeholder 2"/>
          <p:cNvSpPr>
            <a:spLocks noGrp="1"/>
          </p:cNvSpPr>
          <p:nvPr>
            <p:ph idx="1"/>
          </p:nvPr>
        </p:nvSpPr>
        <p:spPr/>
        <p:txBody>
          <a:bodyPr/>
          <a:lstStyle/>
          <a:p>
            <a:r>
              <a:rPr sz="1400" b="1" dirty="0"/>
              <a:t>Scope of Prior Research: </a:t>
            </a:r>
            <a:r>
              <a:rPr sz="1400" dirty="0"/>
              <a:t>Existing studies  target regional or airline-specific networks, lacking comprehensive global perspectives.</a:t>
            </a:r>
          </a:p>
          <a:p>
            <a:r>
              <a:rPr sz="1400" b="1" dirty="0"/>
              <a:t>Post-Pandemic Analysis Gaps: </a:t>
            </a:r>
            <a:r>
              <a:rPr sz="1400" dirty="0"/>
              <a:t>COVID-19 exposed critical need for multi-layered analyses integrating temporal, spatial, and operational dimensions globally.</a:t>
            </a:r>
          </a:p>
          <a:p>
            <a:r>
              <a:rPr sz="1400" b="1" dirty="0"/>
              <a:t>Full-Stack Data Motivation: </a:t>
            </a:r>
            <a:r>
              <a:rPr sz="1400" dirty="0"/>
              <a:t>Combining route, scheduling, and capacity data empowers </a:t>
            </a:r>
            <a:r>
              <a:rPr lang="en-US" sz="1400" dirty="0"/>
              <a:t>strong and reliable</a:t>
            </a:r>
            <a:r>
              <a:rPr sz="1400" dirty="0"/>
              <a:t> network modeling</a:t>
            </a:r>
            <a:r>
              <a:rPr lang="en-US" sz="1400" dirty="0"/>
              <a:t>.</a:t>
            </a:r>
            <a:endParaRP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Technical Challenges</a:t>
            </a:r>
          </a:p>
        </p:txBody>
      </p:sp>
      <p:sp>
        <p:nvSpPr>
          <p:cNvPr id="3" name="Content Placeholder 2"/>
          <p:cNvSpPr>
            <a:spLocks noGrp="1"/>
          </p:cNvSpPr>
          <p:nvPr>
            <p:ph idx="1"/>
          </p:nvPr>
        </p:nvSpPr>
        <p:spPr>
          <a:xfrm>
            <a:off x="457200" y="1072375"/>
            <a:ext cx="4114800" cy="4525963"/>
          </a:xfrm>
        </p:spPr>
        <p:txBody>
          <a:bodyPr wrap="square">
            <a:noAutofit/>
          </a:bodyPr>
          <a:lstStyle/>
          <a:p>
            <a:r>
              <a:rPr sz="1400" b="1" dirty="0"/>
              <a:t>Data Cleansing Complexity: </a:t>
            </a:r>
            <a:r>
              <a:rPr sz="1400" dirty="0"/>
              <a:t>Addressed incomplete and invalid IATA codes through rigorous validation and imputation techniques ensuring dataset integrity.</a:t>
            </a:r>
          </a:p>
          <a:p>
            <a:r>
              <a:rPr sz="1400" b="1" dirty="0"/>
              <a:t>Large-Scale Graph Computation: </a:t>
            </a:r>
            <a:r>
              <a:rPr sz="1400" dirty="0"/>
              <a:t>Managed computational demands of 6000+ airports and 67000+ routes by optimizing graph representations and parallel processing.</a:t>
            </a:r>
            <a:endParaRPr lang="en-US" sz="1400" dirty="0"/>
          </a:p>
          <a:p>
            <a:r>
              <a:rPr lang="en-US" sz="1400" dirty="0"/>
              <a:t>Understanding </a:t>
            </a:r>
            <a:r>
              <a:rPr lang="en-US" sz="1400"/>
              <a:t>about aviation.</a:t>
            </a:r>
            <a:endParaRPr sz="1400" dirty="0"/>
          </a:p>
        </p:txBody>
      </p:sp>
      <p:pic>
        <p:nvPicPr>
          <p:cNvPr id="4" name="Picture 3" descr="image.jpg"/>
          <p:cNvPicPr>
            <a:picLocks noChangeAspect="1"/>
          </p:cNvPicPr>
          <p:nvPr/>
        </p:nvPicPr>
        <p:blipFill>
          <a:blip r:embed="rId2"/>
          <a:stretch>
            <a:fillRect/>
          </a:stretch>
        </p:blipFill>
        <p:spPr>
          <a:xfrm>
            <a:off x="5189220" y="1600200"/>
            <a:ext cx="2880359" cy="28803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dirty="0"/>
              <a:t>Methodology</a:t>
            </a:r>
          </a:p>
        </p:txBody>
      </p:sp>
      <p:sp>
        <p:nvSpPr>
          <p:cNvPr id="3" name="Content Placeholder 2"/>
          <p:cNvSpPr>
            <a:spLocks noGrp="1"/>
          </p:cNvSpPr>
          <p:nvPr>
            <p:ph idx="1"/>
          </p:nvPr>
        </p:nvSpPr>
        <p:spPr/>
        <p:txBody>
          <a:bodyPr/>
          <a:lstStyle/>
          <a:p>
            <a:r>
              <a:rPr sz="1400" b="1" dirty="0"/>
              <a:t>Data Acquisition &amp; Graph Construction: </a:t>
            </a:r>
            <a:r>
              <a:rPr sz="1400" dirty="0"/>
              <a:t>Collected </a:t>
            </a:r>
            <a:r>
              <a:rPr sz="1400" dirty="0" err="1"/>
              <a:t>OpenFlights</a:t>
            </a:r>
            <a:r>
              <a:rPr sz="1400" dirty="0"/>
              <a:t> datasets; constructed directed graph with </a:t>
            </a:r>
            <a:r>
              <a:rPr sz="1400" dirty="0" err="1"/>
              <a:t>NetworkX</a:t>
            </a:r>
            <a:r>
              <a:rPr sz="1400" dirty="0"/>
              <a:t>; performed node and edge cleaning for accuracy.</a:t>
            </a:r>
          </a:p>
          <a:p>
            <a:r>
              <a:rPr sz="1400" b="1" dirty="0"/>
              <a:t>Network Analysis Techniques: </a:t>
            </a:r>
            <a:r>
              <a:rPr sz="1400" dirty="0"/>
              <a:t>Computed degree, betweenness, and PageRank centralities; applied Louvain method on undirected graph for community detection.</a:t>
            </a:r>
          </a:p>
          <a:p>
            <a:r>
              <a:rPr sz="1400" b="1" dirty="0"/>
              <a:t>Seasonal Modeling &amp; Resilience Testing: </a:t>
            </a:r>
            <a:r>
              <a:rPr sz="1400" dirty="0"/>
              <a:t>Integrated regional and tourism coefficients for seasonality; simulated airport removals to assess network resilience dynamics.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Results: Hub Analysis</a:t>
            </a:r>
          </a:p>
        </p:txBody>
      </p:sp>
      <p:sp>
        <p:nvSpPr>
          <p:cNvPr id="3" name="Content Placeholder 2"/>
          <p:cNvSpPr>
            <a:spLocks noGrp="1"/>
          </p:cNvSpPr>
          <p:nvPr>
            <p:ph sz="half" idx="1"/>
          </p:nvPr>
        </p:nvSpPr>
        <p:spPr>
          <a:xfrm>
            <a:off x="619329" y="1292671"/>
            <a:ext cx="3297254" cy="3146822"/>
          </a:xfrm>
        </p:spPr>
        <p:txBody>
          <a:bodyPr>
            <a:noAutofit/>
          </a:bodyPr>
          <a:lstStyle/>
          <a:p>
            <a:pPr>
              <a:buNone/>
            </a:pPr>
            <a:r>
              <a:rPr lang="en-US" sz="1200" dirty="0"/>
              <a:t>Hub analysis identifies the most important airports in the network using centrality measures:</a:t>
            </a:r>
          </a:p>
          <a:p>
            <a:pPr>
              <a:buFont typeface="Arial" panose="020B0604020202020204" pitchFamily="34" charset="0"/>
              <a:buChar char="•"/>
            </a:pPr>
            <a:r>
              <a:rPr lang="en-US" sz="1200" b="1" dirty="0"/>
              <a:t>Degree Centrality</a:t>
            </a:r>
            <a:r>
              <a:rPr lang="en-US" sz="1200" dirty="0"/>
              <a:t>: Counts the number of connections (routes) to/from an airport, identifying airports with many direct flights</a:t>
            </a:r>
          </a:p>
          <a:p>
            <a:pPr>
              <a:buFont typeface="Arial" panose="020B0604020202020204" pitchFamily="34" charset="0"/>
              <a:buChar char="•"/>
            </a:pPr>
            <a:r>
              <a:rPr lang="en-US" sz="1200" b="1" dirty="0"/>
              <a:t>Betweenness Centrality</a:t>
            </a:r>
            <a:r>
              <a:rPr lang="en-US" sz="1200" dirty="0"/>
              <a:t>: Measures how often an airport acts as a bridge along the shortest path between other airports, identifying critical connecting hubs</a:t>
            </a:r>
          </a:p>
          <a:p>
            <a:pPr>
              <a:buFont typeface="Arial" panose="020B0604020202020204" pitchFamily="34" charset="0"/>
              <a:buChar char="•"/>
            </a:pPr>
            <a:r>
              <a:rPr lang="en-US" sz="1200" b="1" dirty="0"/>
              <a:t>PageRank</a:t>
            </a:r>
            <a:r>
              <a:rPr lang="en-US" sz="1200" dirty="0"/>
              <a:t>: Evaluates importance by considering not just how many connections an airport has, but the importance of those connections</a:t>
            </a:r>
          </a:p>
        </p:txBody>
      </p:sp>
      <p:pic>
        <p:nvPicPr>
          <p:cNvPr id="6" name="Content Placeholder 5">
            <a:extLst>
              <a:ext uri="{FF2B5EF4-FFF2-40B4-BE49-F238E27FC236}">
                <a16:creationId xmlns:a16="http://schemas.microsoft.com/office/drawing/2014/main" id="{2D948686-BC43-5975-9BA5-C4800A5670D5}"/>
              </a:ext>
            </a:extLst>
          </p:cNvPr>
          <p:cNvPicPr>
            <a:picLocks noGrp="1" noChangeAspect="1"/>
          </p:cNvPicPr>
          <p:nvPr>
            <p:ph sz="half" idx="2"/>
          </p:nvPr>
        </p:nvPicPr>
        <p:blipFill>
          <a:blip r:embed="rId2"/>
          <a:stretch>
            <a:fillRect/>
          </a:stretch>
        </p:blipFill>
        <p:spPr>
          <a:xfrm>
            <a:off x="3916583" y="1292671"/>
            <a:ext cx="5160510" cy="3056305"/>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228" y="190855"/>
            <a:ext cx="7053542" cy="1050398"/>
          </a:xfrm>
        </p:spPr>
        <p:txBody>
          <a:bodyPr/>
          <a:lstStyle/>
          <a:p>
            <a:pPr algn="l"/>
            <a:r>
              <a:rPr sz="2200"/>
              <a:t>Results: Community Detection</a:t>
            </a:r>
          </a:p>
        </p:txBody>
      </p:sp>
      <p:sp>
        <p:nvSpPr>
          <p:cNvPr id="3" name="Content Placeholder 2"/>
          <p:cNvSpPr>
            <a:spLocks noGrp="1"/>
          </p:cNvSpPr>
          <p:nvPr>
            <p:ph idx="1"/>
          </p:nvPr>
        </p:nvSpPr>
        <p:spPr>
          <a:xfrm>
            <a:off x="457200" y="1116732"/>
            <a:ext cx="4114800" cy="4525963"/>
          </a:xfrm>
        </p:spPr>
        <p:txBody>
          <a:bodyPr wrap="square">
            <a:noAutofit/>
          </a:bodyPr>
          <a:lstStyle/>
          <a:p>
            <a:r>
              <a:rPr lang="en-US" sz="1400" dirty="0"/>
              <a:t>Community detection finds groups of airports that are more densely connected to each other than to the rest of the network. The Louvain algorithm used in the code identifies communities by optimizing "modularity," which measures the strength of division into communities. The visualization shows how these communities often align with geographic regions or airline alliance networks. </a:t>
            </a:r>
          </a:p>
        </p:txBody>
      </p:sp>
      <p:pic>
        <p:nvPicPr>
          <p:cNvPr id="7" name="Picture 6">
            <a:extLst>
              <a:ext uri="{FF2B5EF4-FFF2-40B4-BE49-F238E27FC236}">
                <a16:creationId xmlns:a16="http://schemas.microsoft.com/office/drawing/2014/main" id="{FBF2FD65-EEAC-4A5C-84E5-582E4FC9E9C3}"/>
              </a:ext>
            </a:extLst>
          </p:cNvPr>
          <p:cNvPicPr>
            <a:picLocks noChangeAspect="1"/>
          </p:cNvPicPr>
          <p:nvPr/>
        </p:nvPicPr>
        <p:blipFill>
          <a:blip r:embed="rId2"/>
          <a:stretch>
            <a:fillRect/>
          </a:stretch>
        </p:blipFill>
        <p:spPr>
          <a:xfrm>
            <a:off x="4572000" y="1241253"/>
            <a:ext cx="4378712" cy="32561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Results: Network Resilience</a:t>
            </a:r>
          </a:p>
        </p:txBody>
      </p:sp>
      <p:sp>
        <p:nvSpPr>
          <p:cNvPr id="3" name="Content Placeholder 2"/>
          <p:cNvSpPr>
            <a:spLocks noGrp="1"/>
          </p:cNvSpPr>
          <p:nvPr>
            <p:ph sz="half" idx="1"/>
          </p:nvPr>
        </p:nvSpPr>
        <p:spPr>
          <a:xfrm>
            <a:off x="381436" y="1270368"/>
            <a:ext cx="3297254" cy="3146822"/>
          </a:xfrm>
        </p:spPr>
        <p:txBody>
          <a:bodyPr>
            <a:noAutofit/>
          </a:bodyPr>
          <a:lstStyle/>
          <a:p>
            <a:r>
              <a:rPr lang="en-US" sz="1400" dirty="0"/>
              <a:t>Resilience analysis tests how the network responds to disruptions through simulated airport removals. The code implements different removal strategies and measures how network connectivity degrades. The visualizations demonstrate that targeting high-centrality airports causes more rapid fragmentation than random removals. This reveals vulnerabilities in the network structure and helps identify critical airports whose failure would severely impact global connectivity.</a:t>
            </a:r>
            <a:endParaRPr sz="1400" dirty="0"/>
          </a:p>
        </p:txBody>
      </p:sp>
      <p:pic>
        <p:nvPicPr>
          <p:cNvPr id="6" name="Content Placeholder 5">
            <a:extLst>
              <a:ext uri="{FF2B5EF4-FFF2-40B4-BE49-F238E27FC236}">
                <a16:creationId xmlns:a16="http://schemas.microsoft.com/office/drawing/2014/main" id="{BCE783FB-BECE-53B8-7C70-9D1CEAB1B6C9}"/>
              </a:ext>
            </a:extLst>
          </p:cNvPr>
          <p:cNvPicPr>
            <a:picLocks noGrp="1" noChangeAspect="1"/>
          </p:cNvPicPr>
          <p:nvPr>
            <p:ph sz="half" idx="2"/>
          </p:nvPr>
        </p:nvPicPr>
        <p:blipFill>
          <a:blip r:embed="rId2"/>
          <a:stretch>
            <a:fillRect/>
          </a:stretch>
        </p:blipFill>
        <p:spPr>
          <a:xfrm>
            <a:off x="4386146" y="1442225"/>
            <a:ext cx="4133386" cy="3146822"/>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dirty="0"/>
              <a:t>Results: Seasonal Patterns</a:t>
            </a:r>
          </a:p>
        </p:txBody>
      </p:sp>
      <p:sp>
        <p:nvSpPr>
          <p:cNvPr id="3" name="Content Placeholder 2"/>
          <p:cNvSpPr>
            <a:spLocks noGrp="1"/>
          </p:cNvSpPr>
          <p:nvPr>
            <p:ph sz="half" idx="1"/>
          </p:nvPr>
        </p:nvSpPr>
        <p:spPr>
          <a:xfrm>
            <a:off x="314529" y="1489333"/>
            <a:ext cx="3297254" cy="3146822"/>
          </a:xfrm>
        </p:spPr>
        <p:txBody>
          <a:bodyPr>
            <a:normAutofit fontScale="92500" lnSpcReduction="20000"/>
          </a:bodyPr>
          <a:lstStyle/>
          <a:p>
            <a:r>
              <a:rPr lang="en-US" sz="1600" dirty="0"/>
              <a:t>Seasonal analysis examines how network structure changes across different seasons (winter, spring, summer, fall). </a:t>
            </a:r>
            <a:r>
              <a:rPr lang="en-US" sz="1600"/>
              <a:t>Although  dataset </a:t>
            </a:r>
            <a:r>
              <a:rPr lang="en-US" sz="1600" dirty="0"/>
              <a:t>shows consistent metrics across seasons, the methodology allows for identifying airports with high seasonal variation in real-world applications. The visualizations would typically show how tourism patterns and weather conditions affect flight routes throughout the year.</a:t>
            </a:r>
            <a:endParaRPr sz="1400" dirty="0"/>
          </a:p>
        </p:txBody>
      </p:sp>
      <p:pic>
        <p:nvPicPr>
          <p:cNvPr id="6" name="Content Placeholder 5">
            <a:extLst>
              <a:ext uri="{FF2B5EF4-FFF2-40B4-BE49-F238E27FC236}">
                <a16:creationId xmlns:a16="http://schemas.microsoft.com/office/drawing/2014/main" id="{57BA5752-54A6-9F2E-7D04-8542402EADC5}"/>
              </a:ext>
            </a:extLst>
          </p:cNvPr>
          <p:cNvPicPr>
            <a:picLocks noGrp="1" noChangeAspect="1"/>
          </p:cNvPicPr>
          <p:nvPr>
            <p:ph sz="half" idx="2"/>
          </p:nvPr>
        </p:nvPicPr>
        <p:blipFill>
          <a:blip r:embed="rId2"/>
          <a:stretch>
            <a:fillRect/>
          </a:stretch>
        </p:blipFill>
        <p:spPr>
          <a:xfrm>
            <a:off x="3873190" y="1380575"/>
            <a:ext cx="4637543" cy="3146822"/>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Discussion &amp; Insights</a:t>
            </a:r>
          </a:p>
        </p:txBody>
      </p:sp>
      <p:sp>
        <p:nvSpPr>
          <p:cNvPr id="3" name="Content Placeholder 2"/>
          <p:cNvSpPr>
            <a:spLocks noGrp="1"/>
          </p:cNvSpPr>
          <p:nvPr>
            <p:ph idx="1"/>
          </p:nvPr>
        </p:nvSpPr>
        <p:spPr>
          <a:xfrm>
            <a:off x="405161" y="975732"/>
            <a:ext cx="4114800" cy="4525963"/>
          </a:xfrm>
        </p:spPr>
        <p:txBody>
          <a:bodyPr wrap="square">
            <a:noAutofit/>
          </a:bodyPr>
          <a:lstStyle/>
          <a:p>
            <a:r>
              <a:rPr lang="en-US" sz="1400" b="1" dirty="0"/>
              <a:t>Geographic Communities</a:t>
            </a:r>
            <a:r>
              <a:rPr lang="en-US" sz="1400" dirty="0"/>
              <a:t>: The network naturally divides into 24 distinct communities largely aligned with continental geography, with the five largest being North American, European, East Asian, Middle Eastern/South Asian, and South American.</a:t>
            </a:r>
          </a:p>
          <a:p>
            <a:r>
              <a:rPr sz="1400" b="1" dirty="0"/>
              <a:t>Hub Structural Roles: </a:t>
            </a:r>
            <a:r>
              <a:rPr sz="1400" dirty="0"/>
              <a:t>Different hub types—traffic volume hubs or transfer hubs—drive network flow and resilience differently across regions.</a:t>
            </a:r>
          </a:p>
          <a:p>
            <a:r>
              <a:rPr sz="1400" b="1" dirty="0"/>
              <a:t>Policy and Investment Implications: </a:t>
            </a:r>
            <a:r>
              <a:rPr sz="1400" dirty="0"/>
              <a:t>Tailored airline routing, strategic airport investments, and adaptive policies enhance network robustness and operational efficiency.</a:t>
            </a:r>
          </a:p>
        </p:txBody>
      </p:sp>
      <p:pic>
        <p:nvPicPr>
          <p:cNvPr id="4" name="Picture 3" descr="image.jpg"/>
          <p:cNvPicPr>
            <a:picLocks noChangeAspect="1"/>
          </p:cNvPicPr>
          <p:nvPr/>
        </p:nvPicPr>
        <p:blipFill>
          <a:blip r:embed="rId2"/>
          <a:stretch>
            <a:fillRect/>
          </a:stretch>
        </p:blipFill>
        <p:spPr>
          <a:xfrm>
            <a:off x="5189220" y="1600200"/>
            <a:ext cx="2880359" cy="28803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2200"/>
              <a:t>Future Work</a:t>
            </a:r>
          </a:p>
        </p:txBody>
      </p:sp>
      <p:sp>
        <p:nvSpPr>
          <p:cNvPr id="3" name="Content Placeholder 2"/>
          <p:cNvSpPr>
            <a:spLocks noGrp="1"/>
          </p:cNvSpPr>
          <p:nvPr>
            <p:ph idx="1"/>
          </p:nvPr>
        </p:nvSpPr>
        <p:spPr>
          <a:xfrm>
            <a:off x="656402" y="1487650"/>
            <a:ext cx="6709906" cy="3146611"/>
          </a:xfrm>
        </p:spPr>
        <p:txBody>
          <a:bodyPr/>
          <a:lstStyle/>
          <a:p>
            <a:r>
              <a:rPr sz="1400" b="1" dirty="0"/>
              <a:t>Weighted Network Analysis: </a:t>
            </a:r>
            <a:r>
              <a:rPr sz="1400" dirty="0"/>
              <a:t>Integrate passenger volumes and real-time flight data to generate weighted graphs reflecting dynamic traffic flows.</a:t>
            </a:r>
          </a:p>
          <a:p>
            <a:r>
              <a:rPr sz="1400" b="1" dirty="0"/>
              <a:t>Predictive Disruption Modeling: </a:t>
            </a:r>
            <a:r>
              <a:rPr sz="1400" dirty="0"/>
              <a:t>Develop machine learning models</a:t>
            </a:r>
            <a:r>
              <a:rPr lang="en-US" sz="1400" dirty="0"/>
              <a:t> (GNN’S, GCN’S)</a:t>
            </a:r>
            <a:r>
              <a:rPr sz="1400" dirty="0"/>
              <a:t> forecasting flight disruptions to optimize contingency planning and network resilience.</a:t>
            </a:r>
          </a:p>
          <a:p>
            <a:r>
              <a:rPr sz="1400" b="1" dirty="0"/>
              <a:t>Multimodal Transport Integration: </a:t>
            </a:r>
            <a:r>
              <a:rPr sz="1400" dirty="0"/>
              <a:t>Incorporate rail and </a:t>
            </a:r>
            <a:r>
              <a:rPr lang="en-US" sz="1400" dirty="0"/>
              <a:t>sea</a:t>
            </a:r>
            <a:r>
              <a:rPr sz="1400" dirty="0"/>
              <a:t> networks to establish comprehensive multimodal mobility models enhancing intermodal connectivity.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1F9099-2FB1-3E7F-BEA2-AC3CDA43A67D}"/>
              </a:ext>
            </a:extLst>
          </p:cNvPr>
          <p:cNvSpPr>
            <a:spLocks noGrp="1"/>
          </p:cNvSpPr>
          <p:nvPr>
            <p:ph type="ctrTitle"/>
          </p:nvPr>
        </p:nvSpPr>
        <p:spPr>
          <a:xfrm>
            <a:off x="866216" y="311872"/>
            <a:ext cx="6619244" cy="2497186"/>
          </a:xfrm>
        </p:spPr>
        <p:txBody>
          <a:bodyPr/>
          <a:lstStyle/>
          <a:p>
            <a:pPr algn="ctr"/>
            <a:r>
              <a:rPr lang="en-US" dirty="0"/>
              <a:t>Thank you</a:t>
            </a:r>
            <a:endParaRPr lang="en-IN" dirty="0"/>
          </a:p>
        </p:txBody>
      </p:sp>
      <p:sp>
        <p:nvSpPr>
          <p:cNvPr id="5" name="Subtitle 4">
            <a:extLst>
              <a:ext uri="{FF2B5EF4-FFF2-40B4-BE49-F238E27FC236}">
                <a16:creationId xmlns:a16="http://schemas.microsoft.com/office/drawing/2014/main" id="{44407984-0E0A-8159-B856-451BD2BEB841}"/>
              </a:ext>
            </a:extLst>
          </p:cNvPr>
          <p:cNvSpPr>
            <a:spLocks noGrp="1"/>
          </p:cNvSpPr>
          <p:nvPr>
            <p:ph type="subTitle" idx="1"/>
          </p:nvPr>
        </p:nvSpPr>
        <p:spPr>
          <a:xfrm>
            <a:off x="866216" y="3260002"/>
            <a:ext cx="6619244" cy="646065"/>
          </a:xfrm>
        </p:spPr>
        <p:txBody>
          <a:bodyPr/>
          <a:lstStyle/>
          <a:p>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427</TotalTime>
  <Words>755</Words>
  <Application>Microsoft Office PowerPoint</Application>
  <PresentationFormat>On-screen Show (16:9)</PresentationFormat>
  <Paragraphs>50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Flight Network Analysis </vt:lpstr>
      <vt:lpstr>Flight Network Analysis Report</vt:lpstr>
      <vt:lpstr>Problem Statement</vt:lpstr>
      <vt:lpstr>State of the Art &amp; Motivation</vt:lpstr>
      <vt:lpstr>Technical Challenges</vt:lpstr>
      <vt:lpstr>Methodology</vt:lpstr>
      <vt:lpstr>Results: Hub Analysis</vt:lpstr>
      <vt:lpstr>Results: Community Detection</vt:lpstr>
      <vt:lpstr>Results: Network Resilience</vt:lpstr>
      <vt:lpstr>Results: Seasonal Patterns</vt:lpstr>
      <vt:lpstr>Discussion &amp; Insights</vt:lpstr>
      <vt:lpstr>Future Work</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keywords/>
  <dc:description>generated using python-pptx</dc:description>
  <cp:lastModifiedBy>Pvn Rajeev</cp:lastModifiedBy>
  <cp:revision>14</cp:revision>
  <dcterms:created xsi:type="dcterms:W3CDTF">2013-01-27T09:14:16Z</dcterms:created>
  <dcterms:modified xsi:type="dcterms:W3CDTF">2025-05-09T01:06:07Z</dcterms:modified>
  <cp:category/>
</cp:coreProperties>
</file>